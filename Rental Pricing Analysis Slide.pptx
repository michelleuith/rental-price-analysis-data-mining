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nva Sans Bold" charset="1" panose="020B0803030501040103"/>
      <p:regular r:id="rId33"/>
    </p:embeddedFont>
    <p:embeddedFont>
      <p:font typeface="Canva Sans" charset="1" panose="020B0503030501040103"/>
      <p:regular r:id="rId34"/>
    </p:embeddedFont>
    <p:embeddedFont>
      <p:font typeface="Anton" charset="1" panose="00000500000000000000"/>
      <p:regular r:id="rId35"/>
    </p:embeddedFont>
    <p:embeddedFont>
      <p:font typeface="Canva Sans Medium" charset="1" panose="020B0603030501040103"/>
      <p:regular r:id="rId36"/>
    </p:embeddedFont>
    <p:embeddedFont>
      <p:font typeface="Inter Bold" charset="1" panose="020B080203000000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56739" y="3471004"/>
            <a:ext cx="331261" cy="6815996"/>
            <a:chOff x="0" y="0"/>
            <a:chExt cx="87246" cy="1795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246" cy="1795160"/>
            </a:xfrm>
            <a:custGeom>
              <a:avLst/>
              <a:gdLst/>
              <a:ahLst/>
              <a:cxnLst/>
              <a:rect r="r" b="b" t="t" l="l"/>
              <a:pathLst>
                <a:path h="1795160" w="87246">
                  <a:moveTo>
                    <a:pt x="0" y="0"/>
                  </a:moveTo>
                  <a:lnTo>
                    <a:pt x="87246" y="0"/>
                  </a:lnTo>
                  <a:lnTo>
                    <a:pt x="87246" y="1795160"/>
                  </a:lnTo>
                  <a:lnTo>
                    <a:pt x="0" y="1795160"/>
                  </a:lnTo>
                  <a:close/>
                </a:path>
              </a:pathLst>
            </a:custGeom>
            <a:solidFill>
              <a:srgbClr val="FF3D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246" cy="1833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246" cy="2574659"/>
            </a:xfrm>
            <a:custGeom>
              <a:avLst/>
              <a:gdLst/>
              <a:ahLst/>
              <a:cxnLst/>
              <a:rect r="r" b="b" t="t" l="l"/>
              <a:pathLst>
                <a:path h="2574659" w="87246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3D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331261" cy="4857241"/>
            <a:chOff x="0" y="0"/>
            <a:chExt cx="87246" cy="127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46" cy="1279273"/>
            </a:xfrm>
            <a:custGeom>
              <a:avLst/>
              <a:gdLst/>
              <a:ahLst/>
              <a:cxnLst/>
              <a:rect r="r" b="b" t="t" l="l"/>
              <a:pathLst>
                <a:path h="1279273" w="87246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3D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246" cy="2157197"/>
            </a:xfrm>
            <a:custGeom>
              <a:avLst/>
              <a:gdLst/>
              <a:ahLst/>
              <a:cxnLst/>
              <a:rect r="r" b="b" t="t" l="l"/>
              <a:pathLst>
                <a:path h="2157197" w="87246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956739" y="0"/>
            <a:ext cx="331261" cy="3012480"/>
            <a:chOff x="0" y="0"/>
            <a:chExt cx="87246" cy="7934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246" cy="793410"/>
            </a:xfrm>
            <a:custGeom>
              <a:avLst/>
              <a:gdLst/>
              <a:ahLst/>
              <a:cxnLst/>
              <a:rect r="r" b="b" t="t" l="l"/>
              <a:pathLst>
                <a:path h="793410" w="87246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4186955" y="6437368"/>
            <a:ext cx="331261" cy="7368002"/>
            <a:chOff x="0" y="0"/>
            <a:chExt cx="87246" cy="19405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246" cy="1940544"/>
            </a:xfrm>
            <a:custGeom>
              <a:avLst/>
              <a:gdLst/>
              <a:ahLst/>
              <a:cxnLst/>
              <a:rect r="r" b="b" t="t" l="l"/>
              <a:pathLst>
                <a:path h="1940544" w="87246">
                  <a:moveTo>
                    <a:pt x="0" y="0"/>
                  </a:moveTo>
                  <a:lnTo>
                    <a:pt x="87246" y="0"/>
                  </a:lnTo>
                  <a:lnTo>
                    <a:pt x="87246" y="1940544"/>
                  </a:lnTo>
                  <a:lnTo>
                    <a:pt x="0" y="1940544"/>
                  </a:lnTo>
                  <a:close/>
                </a:path>
              </a:pathLst>
            </a:custGeom>
            <a:solidFill>
              <a:srgbClr val="FF3D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246" cy="1978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3705" y="1720399"/>
            <a:ext cx="12929436" cy="243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>
                <a:solidFill>
                  <a:srgbClr val="4D4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Rental Pricing Dataset in Kuala Lumpur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67921" y="4653410"/>
            <a:ext cx="11075869" cy="3135030"/>
            <a:chOff x="0" y="0"/>
            <a:chExt cx="14767826" cy="418004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14767826" cy="558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u="none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Group 2 Members: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0006" y="817504"/>
              <a:ext cx="12208794" cy="3362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5200"/>
                </a:lnSpc>
                <a:buAutoNum type="arabicPeriod" startAt="1"/>
              </a:pPr>
              <a:r>
                <a:rPr lang="en-US" sz="2600">
                  <a:solidFill>
                    <a:srgbClr val="4D4D4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Uithiswary a/p Velan  1191202283 (Leader)</a:t>
              </a:r>
            </a:p>
            <a:p>
              <a:pPr algn="l" marL="561341" indent="-280670" lvl="1">
                <a:lnSpc>
                  <a:spcPts val="5200"/>
                </a:lnSpc>
                <a:buAutoNum type="arabicPeriod" startAt="1"/>
              </a:pPr>
              <a:r>
                <a:rPr lang="en-US" sz="2600">
                  <a:solidFill>
                    <a:srgbClr val="4D4D4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Liew Zhi Tong 1211203835</a:t>
              </a:r>
            </a:p>
            <a:p>
              <a:pPr algn="l" marL="561341" indent="-280670" lvl="1">
                <a:lnSpc>
                  <a:spcPts val="5200"/>
                </a:lnSpc>
                <a:buAutoNum type="arabicPeriod" startAt="1"/>
              </a:pPr>
              <a:r>
                <a:rPr lang="en-US" sz="2600">
                  <a:solidFill>
                    <a:srgbClr val="4D4D4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Priveeta Gobi Krishnan 1211204549</a:t>
              </a:r>
            </a:p>
            <a:p>
              <a:pPr algn="l" marL="561341" indent="-280670" lvl="1">
                <a:lnSpc>
                  <a:spcPts val="5200"/>
                </a:lnSpc>
                <a:buAutoNum type="arabicPeriod" startAt="1"/>
              </a:pPr>
              <a:r>
                <a:rPr lang="en-US" sz="2600">
                  <a:solidFill>
                    <a:srgbClr val="4D4D4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Yeo Hui Yi 1211201569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name="Group 25" id="25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1900754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31900754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7250"/>
            <a:ext cx="5998069" cy="148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strike="noStrike" u="none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19090"/>
            <a:ext cx="16230600" cy="66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rental markets in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Kuala Lumpur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Selangor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face challenges such as a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transparency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pricing,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inefficiencies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decision-making for tenants and landlords, and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price distortions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This project utilizes the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"Rental Pricing Dataset, Malaysia"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analyze key factors influencing rental prices, including property type, location, and amenities.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Python-based exploratory data analysis (EDA)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models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such as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Forest, Neural Networks, K-Means Clustering,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Gradient Boosting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employed to uncover patterns and provide actionable insights.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focuses on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preparing the dataset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by addressing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values, outliers,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inconsistencies,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followed by deriving insights through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descriptive statistics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visualizations. Recommendations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aim to support tenants in finding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affordable housing,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help landlords set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competitive pricing, 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assist policymakers in addressing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urban housing affordability.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Ultimately, the findings contribute to a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fairer</a:t>
            </a:r>
            <a:r>
              <a:rPr lang="en-US" sz="2699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2699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transparent rental market.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085850" y="2364071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763" y="2937342"/>
            <a:ext cx="16532537" cy="717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86"/>
              </a:lnSpc>
            </a:pPr>
            <a:r>
              <a:rPr lang="en-US" sz="34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our literature review we have gone through multiple different articles that demonstate </a:t>
            </a:r>
            <a:r>
              <a:rPr lang="en-US" sz="3418" b="true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 techniques</a:t>
            </a:r>
            <a:r>
              <a:rPr lang="en-US" sz="34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various outcomes within different geographic areas of our chosen rental price dataset with feature selection of </a:t>
            </a:r>
            <a:r>
              <a:rPr lang="en-US" sz="3418" b="true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property type</a:t>
            </a:r>
            <a:r>
              <a:rPr lang="en-US" sz="34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or </a:t>
            </a:r>
            <a:r>
              <a:rPr lang="en-US" sz="3418" b="true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</a:t>
            </a:r>
            <a:r>
              <a:rPr lang="en-US" sz="34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or even </a:t>
            </a:r>
            <a:r>
              <a:rPr lang="en-US" sz="3418" b="true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amenities</a:t>
            </a:r>
            <a:r>
              <a:rPr lang="en-US" sz="34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4786"/>
              </a:lnSpc>
            </a:pPr>
          </a:p>
          <a:p>
            <a:pPr algn="just" marL="0" indent="0" lvl="0">
              <a:lnSpc>
                <a:spcPts val="4786"/>
              </a:lnSpc>
            </a:pPr>
            <a:r>
              <a:rPr lang="en-US" b="true" sz="34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of the articles talked about </a:t>
            </a:r>
            <a:r>
              <a:rPr lang="en-US" b="true" sz="3418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regression models</a:t>
            </a:r>
            <a:r>
              <a:rPr lang="en-US" b="true" sz="34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while considering property type and location variables, another used </a:t>
            </a:r>
            <a:r>
              <a:rPr lang="en-US" b="true" sz="3418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learning methods</a:t>
            </a:r>
            <a:r>
              <a:rPr lang="en-US" b="true" sz="34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achieve accuracy rates of apartment sizes. </a:t>
            </a:r>
            <a:r>
              <a:rPr lang="en-US" b="true" sz="3418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models</a:t>
            </a:r>
            <a:r>
              <a:rPr lang="en-US" b="true" sz="34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were analyzed and shown to be effective for accuracy for some and collectively these studies underline the </a:t>
            </a:r>
            <a:r>
              <a:rPr lang="en-US" b="true" sz="3418">
                <a:solidFill>
                  <a:srgbClr val="4172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 of advanced machine learning models</a:t>
            </a:r>
            <a:r>
              <a:rPr lang="en-US" b="true" sz="34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feature selection, and regional characteristics in improving rental price prediction accuracy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5998069" cy="148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RELATED WORK</a:t>
            </a:r>
          </a:p>
        </p:txBody>
      </p:sp>
      <p:sp>
        <p:nvSpPr>
          <p:cNvPr name="AutoShape 4" id="4"/>
          <p:cNvSpPr/>
          <p:nvPr/>
        </p:nvSpPr>
        <p:spPr>
          <a:xfrm>
            <a:off x="1085850" y="2364071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9629" y="893445"/>
            <a:ext cx="947415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DATASET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185670"/>
            <a:ext cx="18288000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914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Dataset</a:t>
            </a: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: Property rental listings in Kuala Lumpur &amp; Selangor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Enables investigation of variable affecting </a:t>
            </a:r>
            <a:r>
              <a:rPr lang="en-US" b="true" sz="2799">
                <a:solidFill>
                  <a:srgbClr val="FF9999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rental prices</a:t>
            </a: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&amp; </a:t>
            </a:r>
            <a:r>
              <a:rPr lang="en-US" b="true" sz="2799">
                <a:solidFill>
                  <a:srgbClr val="FF9999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property preferences</a:t>
            </a: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Total of </a:t>
            </a:r>
            <a:r>
              <a:rPr lang="en-US" b="true" sz="2799">
                <a:solidFill>
                  <a:srgbClr val="5E17EB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14 attributes: </a:t>
            </a: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ads_id, prop_name, completion_year, monthly_rent, location, property_type, rooms, parking, bathroom, size, furnished, facilities, additional_facilities &amp; region.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Offers significant insights into market trends &amp; property preferences in Kuala Lumpur &amp; Selangor by concentrating on important elements influence renting decisions.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305425"/>
            <a:ext cx="18213409" cy="482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BF88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914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Missing values (numerical)</a:t>
            </a: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: completion_year, parking &amp; bathroom -&gt; using median to preserve data consistency &amp; reduce impact of outliers.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914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Missing values (categorical)</a:t>
            </a: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: prop_name, furnished &amp; facilities -&gt; using mode to maintain logical consistency throughout dataset.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Non-numeric characters removed from monthly_rent column, only numeric values remained  &amp; converted to integers. (e.g. RM4200 per month -&gt; 4200)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Columns like size, rooms, bathroom &amp; parking processed extract numeric values from text-based, ensuring data type consistency for analysis.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230" y="3004752"/>
            <a:ext cx="5512837" cy="2323411"/>
            <a:chOff x="0" y="0"/>
            <a:chExt cx="1451941" cy="6119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1941" cy="611927"/>
            </a:xfrm>
            <a:custGeom>
              <a:avLst/>
              <a:gdLst/>
              <a:ahLst/>
              <a:cxnLst/>
              <a:rect r="r" b="b" t="t" l="l"/>
              <a:pathLst>
                <a:path h="611927" w="1451941">
                  <a:moveTo>
                    <a:pt x="71622" y="0"/>
                  </a:moveTo>
                  <a:lnTo>
                    <a:pt x="1380319" y="0"/>
                  </a:lnTo>
                  <a:cubicBezTo>
                    <a:pt x="1399314" y="0"/>
                    <a:pt x="1417531" y="7546"/>
                    <a:pt x="1430963" y="20977"/>
                  </a:cubicBezTo>
                  <a:cubicBezTo>
                    <a:pt x="1444395" y="34409"/>
                    <a:pt x="1451941" y="52626"/>
                    <a:pt x="1451941" y="71622"/>
                  </a:cubicBezTo>
                  <a:lnTo>
                    <a:pt x="1451941" y="540306"/>
                  </a:lnTo>
                  <a:cubicBezTo>
                    <a:pt x="1451941" y="559301"/>
                    <a:pt x="1444395" y="577518"/>
                    <a:pt x="1430963" y="590950"/>
                  </a:cubicBezTo>
                  <a:cubicBezTo>
                    <a:pt x="1417531" y="604381"/>
                    <a:pt x="1399314" y="611927"/>
                    <a:pt x="1380319" y="611927"/>
                  </a:cubicBezTo>
                  <a:lnTo>
                    <a:pt x="71622" y="611927"/>
                  </a:lnTo>
                  <a:cubicBezTo>
                    <a:pt x="52626" y="611927"/>
                    <a:pt x="34409" y="604381"/>
                    <a:pt x="20977" y="590950"/>
                  </a:cubicBezTo>
                  <a:cubicBezTo>
                    <a:pt x="7546" y="577518"/>
                    <a:pt x="0" y="559301"/>
                    <a:pt x="0" y="540306"/>
                  </a:cubicBezTo>
                  <a:lnTo>
                    <a:pt x="0" y="71622"/>
                  </a:lnTo>
                  <a:cubicBezTo>
                    <a:pt x="0" y="52626"/>
                    <a:pt x="7546" y="34409"/>
                    <a:pt x="20977" y="20977"/>
                  </a:cubicBezTo>
                  <a:cubicBezTo>
                    <a:pt x="34409" y="7546"/>
                    <a:pt x="52626" y="0"/>
                    <a:pt x="716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51941" cy="65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Random forest</a:t>
              </a:r>
            </a:p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by Liew Zhi Tong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3004752"/>
            <a:ext cx="5512837" cy="2323411"/>
            <a:chOff x="0" y="0"/>
            <a:chExt cx="1451941" cy="611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1941" cy="611927"/>
            </a:xfrm>
            <a:custGeom>
              <a:avLst/>
              <a:gdLst/>
              <a:ahLst/>
              <a:cxnLst/>
              <a:rect r="r" b="b" t="t" l="l"/>
              <a:pathLst>
                <a:path h="611927" w="1451941">
                  <a:moveTo>
                    <a:pt x="71622" y="0"/>
                  </a:moveTo>
                  <a:lnTo>
                    <a:pt x="1380319" y="0"/>
                  </a:lnTo>
                  <a:cubicBezTo>
                    <a:pt x="1399314" y="0"/>
                    <a:pt x="1417531" y="7546"/>
                    <a:pt x="1430963" y="20977"/>
                  </a:cubicBezTo>
                  <a:cubicBezTo>
                    <a:pt x="1444395" y="34409"/>
                    <a:pt x="1451941" y="52626"/>
                    <a:pt x="1451941" y="71622"/>
                  </a:cubicBezTo>
                  <a:lnTo>
                    <a:pt x="1451941" y="540306"/>
                  </a:lnTo>
                  <a:cubicBezTo>
                    <a:pt x="1451941" y="559301"/>
                    <a:pt x="1444395" y="577518"/>
                    <a:pt x="1430963" y="590950"/>
                  </a:cubicBezTo>
                  <a:cubicBezTo>
                    <a:pt x="1417531" y="604381"/>
                    <a:pt x="1399314" y="611927"/>
                    <a:pt x="1380319" y="611927"/>
                  </a:cubicBezTo>
                  <a:lnTo>
                    <a:pt x="71622" y="611927"/>
                  </a:lnTo>
                  <a:cubicBezTo>
                    <a:pt x="52626" y="611927"/>
                    <a:pt x="34409" y="604381"/>
                    <a:pt x="20977" y="590950"/>
                  </a:cubicBezTo>
                  <a:cubicBezTo>
                    <a:pt x="7546" y="577518"/>
                    <a:pt x="0" y="559301"/>
                    <a:pt x="0" y="540306"/>
                  </a:cubicBezTo>
                  <a:lnTo>
                    <a:pt x="0" y="71622"/>
                  </a:lnTo>
                  <a:cubicBezTo>
                    <a:pt x="0" y="52626"/>
                    <a:pt x="7546" y="34409"/>
                    <a:pt x="20977" y="20977"/>
                  </a:cubicBezTo>
                  <a:cubicBezTo>
                    <a:pt x="34409" y="7546"/>
                    <a:pt x="52626" y="0"/>
                    <a:pt x="716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51941" cy="65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Neural Network</a:t>
              </a:r>
            </a:p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by Priveeta Gobi Krishnan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84648" y="6328288"/>
            <a:ext cx="5512837" cy="2323411"/>
            <a:chOff x="0" y="0"/>
            <a:chExt cx="1451941" cy="6119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941" cy="611927"/>
            </a:xfrm>
            <a:custGeom>
              <a:avLst/>
              <a:gdLst/>
              <a:ahLst/>
              <a:cxnLst/>
              <a:rect r="r" b="b" t="t" l="l"/>
              <a:pathLst>
                <a:path h="611927" w="1451941">
                  <a:moveTo>
                    <a:pt x="71622" y="0"/>
                  </a:moveTo>
                  <a:lnTo>
                    <a:pt x="1380319" y="0"/>
                  </a:lnTo>
                  <a:cubicBezTo>
                    <a:pt x="1399314" y="0"/>
                    <a:pt x="1417531" y="7546"/>
                    <a:pt x="1430963" y="20977"/>
                  </a:cubicBezTo>
                  <a:cubicBezTo>
                    <a:pt x="1444395" y="34409"/>
                    <a:pt x="1451941" y="52626"/>
                    <a:pt x="1451941" y="71622"/>
                  </a:cubicBezTo>
                  <a:lnTo>
                    <a:pt x="1451941" y="540306"/>
                  </a:lnTo>
                  <a:cubicBezTo>
                    <a:pt x="1451941" y="559301"/>
                    <a:pt x="1444395" y="577518"/>
                    <a:pt x="1430963" y="590950"/>
                  </a:cubicBezTo>
                  <a:cubicBezTo>
                    <a:pt x="1417531" y="604381"/>
                    <a:pt x="1399314" y="611927"/>
                    <a:pt x="1380319" y="611927"/>
                  </a:cubicBezTo>
                  <a:lnTo>
                    <a:pt x="71622" y="611927"/>
                  </a:lnTo>
                  <a:cubicBezTo>
                    <a:pt x="52626" y="611927"/>
                    <a:pt x="34409" y="604381"/>
                    <a:pt x="20977" y="590950"/>
                  </a:cubicBezTo>
                  <a:cubicBezTo>
                    <a:pt x="7546" y="577518"/>
                    <a:pt x="0" y="559301"/>
                    <a:pt x="0" y="540306"/>
                  </a:cubicBezTo>
                  <a:lnTo>
                    <a:pt x="0" y="71622"/>
                  </a:lnTo>
                  <a:cubicBezTo>
                    <a:pt x="0" y="52626"/>
                    <a:pt x="7546" y="34409"/>
                    <a:pt x="20977" y="20977"/>
                  </a:cubicBezTo>
                  <a:cubicBezTo>
                    <a:pt x="34409" y="7546"/>
                    <a:pt x="52626" y="0"/>
                    <a:pt x="716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941" cy="65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K-Means Clustering</a:t>
              </a:r>
            </a:p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by Yeo Hui Yi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0418" y="6328496"/>
            <a:ext cx="5512837" cy="2323411"/>
            <a:chOff x="0" y="0"/>
            <a:chExt cx="1451941" cy="611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1941" cy="611927"/>
            </a:xfrm>
            <a:custGeom>
              <a:avLst/>
              <a:gdLst/>
              <a:ahLst/>
              <a:cxnLst/>
              <a:rect r="r" b="b" t="t" l="l"/>
              <a:pathLst>
                <a:path h="611927" w="1451941">
                  <a:moveTo>
                    <a:pt x="71622" y="0"/>
                  </a:moveTo>
                  <a:lnTo>
                    <a:pt x="1380319" y="0"/>
                  </a:lnTo>
                  <a:cubicBezTo>
                    <a:pt x="1399314" y="0"/>
                    <a:pt x="1417531" y="7546"/>
                    <a:pt x="1430963" y="20977"/>
                  </a:cubicBezTo>
                  <a:cubicBezTo>
                    <a:pt x="1444395" y="34409"/>
                    <a:pt x="1451941" y="52626"/>
                    <a:pt x="1451941" y="71622"/>
                  </a:cubicBezTo>
                  <a:lnTo>
                    <a:pt x="1451941" y="540306"/>
                  </a:lnTo>
                  <a:cubicBezTo>
                    <a:pt x="1451941" y="559301"/>
                    <a:pt x="1444395" y="577518"/>
                    <a:pt x="1430963" y="590950"/>
                  </a:cubicBezTo>
                  <a:cubicBezTo>
                    <a:pt x="1417531" y="604381"/>
                    <a:pt x="1399314" y="611927"/>
                    <a:pt x="1380319" y="611927"/>
                  </a:cubicBezTo>
                  <a:lnTo>
                    <a:pt x="71622" y="611927"/>
                  </a:lnTo>
                  <a:cubicBezTo>
                    <a:pt x="52626" y="611927"/>
                    <a:pt x="34409" y="604381"/>
                    <a:pt x="20977" y="590950"/>
                  </a:cubicBezTo>
                  <a:cubicBezTo>
                    <a:pt x="7546" y="577518"/>
                    <a:pt x="0" y="559301"/>
                    <a:pt x="0" y="540306"/>
                  </a:cubicBezTo>
                  <a:lnTo>
                    <a:pt x="0" y="71622"/>
                  </a:lnTo>
                  <a:cubicBezTo>
                    <a:pt x="0" y="52626"/>
                    <a:pt x="7546" y="34409"/>
                    <a:pt x="20977" y="20977"/>
                  </a:cubicBezTo>
                  <a:cubicBezTo>
                    <a:pt x="34409" y="7546"/>
                    <a:pt x="52626" y="0"/>
                    <a:pt x="716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51941" cy="65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Gradient Boosting</a:t>
              </a:r>
            </a:p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by Uithiswary a/p Velan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76300"/>
            <a:ext cx="16230600" cy="137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64"/>
              </a:lnSpc>
            </a:pPr>
            <a:r>
              <a:rPr lang="en-US" sz="8046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METHODOLOGY, EXPERIMENT AND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2754"/>
            <a:ext cx="16230600" cy="111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</a:pPr>
            <a:r>
              <a:rPr lang="en-US" sz="6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RANDOM FOREST - CLASSIFICATION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85850" y="2364071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719090"/>
            <a:ext cx="16230600" cy="677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Random Forest algorithm was used to </a:t>
            </a: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classify rental prices into five predefined categories.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methodology involved the following steps: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Preprocessing: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Converted non-numeric columns (e.g., size, rooms, parking) into integers.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Handled missing values using the median.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one-hot encoding to categorical variables.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Binned the target variable, "monthly_rent," into five categories.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Setup: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data into 80-20 train-test sets.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Trained the model with 100 decision trees.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ensemble learning to reduce overfitting.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Metrics: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Confusion Matrix, Classification Report, and Accuracy Score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were used to assess performance.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 and Strengths: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Importance Analysis revealed key factors influencing rental prices.</a:t>
            </a:r>
          </a:p>
          <a:p>
            <a:pPr algn="just" marL="906783" indent="-302261" lvl="2">
              <a:lnSpc>
                <a:spcPts val="3150"/>
              </a:lnSpc>
              <a:buFont typeface="Arial"/>
              <a:buChar char="⚬"/>
            </a:pP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Efficiently handles high-dimensional data while providing interpretable results.</a:t>
            </a:r>
          </a:p>
          <a:p>
            <a:pPr algn="just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2754"/>
            <a:ext cx="16230600" cy="111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99"/>
              </a:lnSpc>
            </a:pPr>
            <a:r>
              <a:rPr lang="en-US" sz="6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RANDOM FOREST - EXPERIMENTAL SETUP</a:t>
            </a:r>
          </a:p>
        </p:txBody>
      </p:sp>
      <p:sp>
        <p:nvSpPr>
          <p:cNvPr name="AutoShape 3" id="3"/>
          <p:cNvSpPr/>
          <p:nvPr/>
        </p:nvSpPr>
        <p:spPr>
          <a:xfrm>
            <a:off x="1085850" y="2364071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709565"/>
            <a:ext cx="16230600" cy="722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Random Forest 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classif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ier anal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zed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rental prices in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Kuala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Lumpur us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tm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teri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stic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s.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dataset was preprocessed and divided into categories for better classification.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Variable (monthly_rent)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orized into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classes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0: Below RM1500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1: RM1500–RM3000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2: RM3000–RM4500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3: RM4500–RM6000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 4: Above RM6000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Preparation: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Handled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encoded categorical variables.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ified sampling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 to maintain class proportions.</a:t>
            </a:r>
          </a:p>
          <a:p>
            <a:pPr algn="just" marL="431802" indent="-215901" lvl="1">
              <a:lnSpc>
                <a:spcPts val="3000"/>
              </a:lnSpc>
              <a:buFont typeface="Arial"/>
              <a:buChar char="•"/>
            </a:pP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Setup: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s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plit into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80% training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20% testing.</a:t>
            </a:r>
          </a:p>
          <a:p>
            <a:pPr algn="just" marL="863604" indent="-287868" lvl="2">
              <a:lnSpc>
                <a:spcPts val="3000"/>
              </a:lnSpc>
              <a:buFont typeface="Arial"/>
              <a:buChar char="⚬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Conducted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Grid Search 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tune hyperparameters</a:t>
            </a:r>
            <a:r>
              <a:rPr lang="en-US" b="true" sz="20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across 108 combinations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just" marL="1295406" indent="-323852" lvl="3">
              <a:lnSpc>
                <a:spcPts val="3000"/>
              </a:lnSpc>
              <a:buFont typeface="Arial"/>
              <a:buChar char="￭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n_e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rs:</a:t>
            </a: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[50, 100, 200]</a:t>
            </a:r>
          </a:p>
          <a:p>
            <a:pPr algn="just" marL="1295406" indent="-323852" lvl="3">
              <a:lnSpc>
                <a:spcPts val="3000"/>
              </a:lnSpc>
              <a:buFont typeface="Arial"/>
              <a:buChar char="￭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max_depth: [None, 10, 20, 30]</a:t>
            </a:r>
          </a:p>
          <a:p>
            <a:pPr algn="just" marL="1295406" indent="-323852" lvl="3">
              <a:lnSpc>
                <a:spcPts val="3000"/>
              </a:lnSpc>
              <a:buFont typeface="Arial"/>
              <a:buChar char="￭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min_samples_split: [2, 5, 10]</a:t>
            </a:r>
          </a:p>
          <a:p>
            <a:pPr algn="just" marL="1295406" indent="-323852" lvl="3">
              <a:lnSpc>
                <a:spcPts val="3000"/>
              </a:lnSpc>
              <a:buFont typeface="Arial"/>
              <a:buChar char="￭"/>
            </a:pPr>
            <a:r>
              <a:rPr lang="en-US" sz="20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min_samples_leaf: [1, 2, 4]</a:t>
            </a:r>
          </a:p>
          <a:p>
            <a:pPr algn="just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28220" y="4178735"/>
            <a:ext cx="5979058" cy="3186208"/>
          </a:xfrm>
          <a:custGeom>
            <a:avLst/>
            <a:gdLst/>
            <a:ahLst/>
            <a:cxnLst/>
            <a:rect r="r" b="b" t="t" l="l"/>
            <a:pathLst>
              <a:path h="3186208" w="5979058">
                <a:moveTo>
                  <a:pt x="0" y="0"/>
                </a:moveTo>
                <a:lnTo>
                  <a:pt x="5979057" y="0"/>
                </a:lnTo>
                <a:lnTo>
                  <a:pt x="5979057" y="3186208"/>
                </a:lnTo>
                <a:lnTo>
                  <a:pt x="0" y="3186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1829" y="3478124"/>
            <a:ext cx="8867061" cy="50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Top-Performing Model: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Accuracy: 86.69%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 test data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Optimal Hyperparameters: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n_estimators: 200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max_depth: None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min_samples_split: 2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min_samples_leaf: 1</a:t>
            </a:r>
          </a:p>
          <a:p>
            <a:pPr algn="l" marL="0" indent="0" lvl="0">
              <a:lnSpc>
                <a:spcPts val="3090"/>
              </a:lnSpc>
            </a:pPr>
          </a:p>
          <a:p>
            <a:pPr algn="l" marL="0" indent="0" lvl="0">
              <a:lnSpc>
                <a:spcPts val="3090"/>
              </a:lnSpc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 from Hyperparameter Tuning: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Higher accuracy achieved with: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Larger number of estimators </a:t>
            </a: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(n_estimators)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Deeper tree structures </a:t>
            </a: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(max_depth: None)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Demonstrates that a </a:t>
            </a: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model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better suited for this dataset.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1829" y="2921468"/>
            <a:ext cx="16127471" cy="34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9"/>
              </a:lnSpc>
            </a:pPr>
            <a:r>
              <a:rPr lang="en-US" sz="2027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Grid Search identified the best-performing model with high accuracy and optimized parameters.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2371258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415616"/>
            <a:ext cx="16230600" cy="927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5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RANDOM FOREST - HYPERPARAMETER TUNING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98851"/>
            <a:ext cx="6648755" cy="2394099"/>
          </a:xfrm>
          <a:custGeom>
            <a:avLst/>
            <a:gdLst/>
            <a:ahLst/>
            <a:cxnLst/>
            <a:rect r="r" b="b" t="t" l="l"/>
            <a:pathLst>
              <a:path h="2394099" w="6648755">
                <a:moveTo>
                  <a:pt x="0" y="0"/>
                </a:moveTo>
                <a:lnTo>
                  <a:pt x="6648755" y="0"/>
                </a:lnTo>
                <a:lnTo>
                  <a:pt x="6648755" y="2394098"/>
                </a:lnTo>
                <a:lnTo>
                  <a:pt x="0" y="2394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6230600" cy="189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5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EVALUATION OF RANDOM FOREST MODEL FOR RENTAL PRICE CATEGORIES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92239" y="3315799"/>
            <a:ext cx="8867061" cy="388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Accuracy: 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Achieved</a:t>
            </a: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86.69% 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the test set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Performance: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ategory 0 (Rentals below RM1500): Precision = 0.90, Recall = 0.93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1 (Rentals between RM1500 and RM3000):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Precision = 0.82, Recall = 0.82</a:t>
            </a:r>
          </a:p>
          <a:p>
            <a:pPr algn="l" marL="416968" indent="-208484" lvl="1">
              <a:lnSpc>
                <a:spcPts val="3090"/>
              </a:lnSpc>
              <a:buFont typeface="Arial"/>
              <a:buChar char="•"/>
            </a:pP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with R</a:t>
            </a:r>
            <a:r>
              <a:rPr lang="en-US" b="true" sz="19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 Categories: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2 (RM3000 to RM4500): Precision = 0.75, Recall = 0.43, F1-score = 0.55</a:t>
            </a:r>
          </a:p>
          <a:p>
            <a:pPr algn="l" marL="833936" indent="-277979" lvl="2">
              <a:lnSpc>
                <a:spcPts val="3090"/>
              </a:lnSpc>
              <a:buFont typeface="Arial"/>
              <a:buChar char="⚬"/>
            </a:pP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</a:t>
            </a:r>
            <a:r>
              <a:rPr lang="en-US" sz="19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ories 3 and 4: High precision but low recall due to class imbalance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285108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85108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03059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6230600" cy="189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5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RANDOM FOREST - KEY FEATURES &amp; INSIGHTS FOR RENTAL PRICE 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730291"/>
            <a:ext cx="8115300" cy="127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200" indent="-176100" lvl="1">
              <a:lnSpc>
                <a:spcPts val="2610"/>
              </a:lnSpc>
              <a:buFont typeface="Arial"/>
              <a:buChar char="•"/>
            </a:pPr>
            <a:r>
              <a:rPr lang="en-US" b="true" sz="16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Predictive Features: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Apartment Size, Completion Year, Number of Rooms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Building Size and Construction Date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Bathrooms &amp; Parking Spaces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7730291"/>
            <a:ext cx="8115300" cy="19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200" indent="-176100" lvl="1">
              <a:lnSpc>
                <a:spcPts val="2610"/>
              </a:lnSpc>
              <a:buFont typeface="Arial"/>
              <a:buChar char="•"/>
            </a:pPr>
            <a:r>
              <a:rPr lang="en-US" b="true" sz="1631" spc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Insights: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Physical characteristics (size, age, room count) are pivotal in rental price prediction.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Location-based factors also play a significant role.</a:t>
            </a:r>
          </a:p>
          <a:p>
            <a:pPr algn="l" marL="704400" indent="-234800" lvl="2">
              <a:lnSpc>
                <a:spcPts val="2610"/>
              </a:lnSpc>
              <a:buFont typeface="Arial"/>
              <a:buChar char="⚬"/>
            </a:pPr>
            <a:r>
              <a:rPr lang="en-US" sz="1631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Predictive models perform well for frequent rental price categories but require refinement for less common price categories.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6246" y="933450"/>
            <a:ext cx="16230600" cy="189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sz="5499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RANDOM FOREST - FUTURE MODEL IMPROVEMENTS &amp; INDUSTRY APPLICATIONS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946246" y="2860609"/>
            <a:ext cx="649224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46246" y="3273397"/>
            <a:ext cx="15804589" cy="477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Improvements Needed: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 Class Imbalance: 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hn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iqu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 like SMOTE, oversampling, and cost-sensitiv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can help improve performance for minority classes.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 Model with </a:t>
            </a: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Hybrid Approaches: 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ining e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ble m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ethods and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hy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rid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algor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ithms can impr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pred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ictions f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less frequent ren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tal categories.</a:t>
            </a:r>
          </a:p>
          <a:p>
            <a:pPr algn="just">
              <a:lnSpc>
                <a:spcPts val="3150"/>
              </a:lnSpc>
            </a:pPr>
          </a:p>
          <a:p>
            <a:pPr algn="just">
              <a:lnSpc>
                <a:spcPts val="3150"/>
              </a:lnSpc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Practical Applications: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Estate Market Strategies: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Insights from feature importance analysis can guide stakeholders in optimizing pricing strategies based on apartment size, age, and room count.</a:t>
            </a:r>
          </a:p>
          <a:p>
            <a:pPr algn="just" marL="453392" indent="-226696" lvl="1">
              <a:lnSpc>
                <a:spcPts val="3150"/>
              </a:lnSpc>
              <a:buFont typeface="Arial"/>
              <a:buChar char="•"/>
            </a:pPr>
            <a:r>
              <a:rPr lang="en-US" b="true" sz="2100" spc="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Improved Prediction Accuracy: </a:t>
            </a:r>
            <a:r>
              <a:rPr lang="en-US" sz="2100" spc="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Addressing class imbalance and implementing advanced techniques will lead to more accurate predictions across all rental categories, boosting the model's practical applicability in the real estate industry.</a:t>
            </a:r>
          </a:p>
          <a:p>
            <a:pPr algn="just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3314" y="4151290"/>
            <a:ext cx="5222470" cy="763610"/>
          </a:xfrm>
          <a:custGeom>
            <a:avLst/>
            <a:gdLst/>
            <a:ahLst/>
            <a:cxnLst/>
            <a:rect r="r" b="b" t="t" l="l"/>
            <a:pathLst>
              <a:path h="763610" w="5222470">
                <a:moveTo>
                  <a:pt x="0" y="0"/>
                </a:moveTo>
                <a:lnTo>
                  <a:pt x="5222470" y="0"/>
                </a:lnTo>
                <a:lnTo>
                  <a:pt x="5222470" y="763610"/>
                </a:lnTo>
                <a:lnTo>
                  <a:pt x="0" y="76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29" r="0" b="-562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3314" y="5897103"/>
            <a:ext cx="5636966" cy="661454"/>
          </a:xfrm>
          <a:custGeom>
            <a:avLst/>
            <a:gdLst/>
            <a:ahLst/>
            <a:cxnLst/>
            <a:rect r="r" b="b" t="t" l="l"/>
            <a:pathLst>
              <a:path h="661454" w="5636966">
                <a:moveTo>
                  <a:pt x="0" y="0"/>
                </a:moveTo>
                <a:lnTo>
                  <a:pt x="5636966" y="0"/>
                </a:lnTo>
                <a:lnTo>
                  <a:pt x="5636966" y="661454"/>
                </a:lnTo>
                <a:lnTo>
                  <a:pt x="0" y="661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19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3314" y="7540760"/>
            <a:ext cx="5763446" cy="719388"/>
          </a:xfrm>
          <a:custGeom>
            <a:avLst/>
            <a:gdLst/>
            <a:ahLst/>
            <a:cxnLst/>
            <a:rect r="r" b="b" t="t" l="l"/>
            <a:pathLst>
              <a:path h="719388" w="5763446">
                <a:moveTo>
                  <a:pt x="0" y="0"/>
                </a:moveTo>
                <a:lnTo>
                  <a:pt x="5763447" y="0"/>
                </a:lnTo>
                <a:lnTo>
                  <a:pt x="5763447" y="719388"/>
                </a:lnTo>
                <a:lnTo>
                  <a:pt x="0" y="719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0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3314" y="2545220"/>
            <a:ext cx="6164491" cy="791061"/>
          </a:xfrm>
          <a:custGeom>
            <a:avLst/>
            <a:gdLst/>
            <a:ahLst/>
            <a:cxnLst/>
            <a:rect r="r" b="b" t="t" l="l"/>
            <a:pathLst>
              <a:path h="791061" w="6164491">
                <a:moveTo>
                  <a:pt x="0" y="0"/>
                </a:moveTo>
                <a:lnTo>
                  <a:pt x="6164491" y="0"/>
                </a:lnTo>
                <a:lnTo>
                  <a:pt x="6164491" y="791061"/>
                </a:lnTo>
                <a:lnTo>
                  <a:pt x="0" y="79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79" r="0" b="-34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3314" y="9072647"/>
            <a:ext cx="5763446" cy="637549"/>
          </a:xfrm>
          <a:custGeom>
            <a:avLst/>
            <a:gdLst/>
            <a:ahLst/>
            <a:cxnLst/>
            <a:rect r="r" b="b" t="t" l="l"/>
            <a:pathLst>
              <a:path h="637549" w="5763446">
                <a:moveTo>
                  <a:pt x="0" y="0"/>
                </a:moveTo>
                <a:lnTo>
                  <a:pt x="5763447" y="0"/>
                </a:lnTo>
                <a:lnTo>
                  <a:pt x="5763447" y="637550"/>
                </a:lnTo>
                <a:lnTo>
                  <a:pt x="0" y="63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58898" y="200292"/>
            <a:ext cx="13252747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NEURAL NETWORK - EXPERIMENT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5271" y="2378776"/>
            <a:ext cx="665651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MSE is very high, performance and predictions have a larger variance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5271" y="4237820"/>
            <a:ext cx="66565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R2 Score for 1st Epoch 38 = 0.0029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5271" y="5921500"/>
            <a:ext cx="70354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R2 Score for Mid Epoch 51 = 0.0029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5271" y="7605179"/>
            <a:ext cx="739449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R2 Score for Last Epoch 100 = 0.0029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85271" y="8829447"/>
            <a:ext cx="88106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overall score is only 0.0029, relatively close to 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209" y="2653359"/>
            <a:ext cx="9468718" cy="6367713"/>
          </a:xfrm>
          <a:custGeom>
            <a:avLst/>
            <a:gdLst/>
            <a:ahLst/>
            <a:cxnLst/>
            <a:rect r="r" b="b" t="t" l="l"/>
            <a:pathLst>
              <a:path h="6367713" w="9468718">
                <a:moveTo>
                  <a:pt x="0" y="0"/>
                </a:moveTo>
                <a:lnTo>
                  <a:pt x="9468718" y="0"/>
                </a:lnTo>
                <a:lnTo>
                  <a:pt x="9468718" y="6367713"/>
                </a:lnTo>
                <a:lnTo>
                  <a:pt x="0" y="636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45026" y="200292"/>
            <a:ext cx="12997949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NEURAL NETWORK -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17639" y="2074840"/>
            <a:ext cx="7747792" cy="745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x-axis is the epochs numbers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y-axis is the number of losses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raining loss line in blue line represents how well the model fits the data it was trained on, 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V</a:t>
            </a: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alidation loss line in orange measures how well the model generalizes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(avoiding overfitting). 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Both the curves start from a high loss value of about 3.5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oth losses decrease steadily and reach approximately 2.8 by the 100th epoch.   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729" y="2524279"/>
            <a:ext cx="9484644" cy="6461414"/>
          </a:xfrm>
          <a:custGeom>
            <a:avLst/>
            <a:gdLst/>
            <a:ahLst/>
            <a:cxnLst/>
            <a:rect r="r" b="b" t="t" l="l"/>
            <a:pathLst>
              <a:path h="6461414" w="9484644">
                <a:moveTo>
                  <a:pt x="0" y="0"/>
                </a:moveTo>
                <a:lnTo>
                  <a:pt x="9484644" y="0"/>
                </a:lnTo>
                <a:lnTo>
                  <a:pt x="9484644" y="6461414"/>
                </a:lnTo>
                <a:lnTo>
                  <a:pt x="0" y="646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0051" y="200292"/>
            <a:ext cx="7707897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NEURAL NETWORK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56894" y="3859511"/>
            <a:ext cx="7525411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x-axis is the epochs numbers 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y-axis value measures the avg. mean absolute value differences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Starting point =2400, learning period is 20 epochs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Stability = 1400, plateau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Maximum performance at 1400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237" y="2764924"/>
            <a:ext cx="8892379" cy="5980125"/>
          </a:xfrm>
          <a:custGeom>
            <a:avLst/>
            <a:gdLst/>
            <a:ahLst/>
            <a:cxnLst/>
            <a:rect r="r" b="b" t="t" l="l"/>
            <a:pathLst>
              <a:path h="5980125" w="8892379">
                <a:moveTo>
                  <a:pt x="0" y="0"/>
                </a:moveTo>
                <a:lnTo>
                  <a:pt x="8892379" y="0"/>
                </a:lnTo>
                <a:lnTo>
                  <a:pt x="8892379" y="5980125"/>
                </a:lnTo>
                <a:lnTo>
                  <a:pt x="0" y="598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0051" y="200292"/>
            <a:ext cx="7707897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NEURAL NETWORK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7460" y="3859511"/>
            <a:ext cx="7803387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Overfitting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This scatter plot has a wide spread of points away from the ideal “Perfect fit” line that signifies inaccurate predictions</a:t>
            </a:r>
          </a:p>
          <a:p>
            <a:pPr algn="ctr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417232"/>
                </a:solidFill>
                <a:latin typeface="Inter Bold"/>
                <a:ea typeface="Inter Bold"/>
                <a:cs typeface="Inter Bold"/>
                <a:sym typeface="Inter Bold"/>
              </a:rPr>
              <a:t>This poor generalization is unreliable for our chosen dataset on rental pricing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8295" y="640328"/>
            <a:ext cx="1181776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K-MEANS CLUSTERING - </a:t>
            </a:r>
            <a:r>
              <a:rPr lang="en-US" sz="6500" u="sng">
                <a:solidFill>
                  <a:srgbClr val="417232"/>
                </a:solidFill>
                <a:latin typeface="Anton"/>
                <a:ea typeface="Anton"/>
                <a:cs typeface="Anton"/>
                <a:sym typeface="Anton"/>
              </a:rPr>
              <a:t>METHODOLOGY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1005" y="2444103"/>
            <a:ext cx="16945990" cy="589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Features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 monthly_rent, size, rooms, bathroom &amp; parking -&gt; cleaned &amp; converted to integer for analysis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All features have been standardized using StandardScaler.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Spilt dataset into training &amp; testing sets -&gt; </a:t>
            </a: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80:20 ratio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Models trained with K values range from </a:t>
            </a: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2 to 10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Elbow Method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 finds where the curve of inertia starts to flatten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Silhouette Scores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 evaluate how well K-Means clustering results are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R-squared accuracy</a:t>
            </a:r>
            <a:r>
              <a:rPr lang="en-US" b="true" sz="3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 compute to measure how many variances in the data explained by the cluster centres.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703" y="401638"/>
            <a:ext cx="1109747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K-MEANS CLUSTERING - </a:t>
            </a:r>
            <a:r>
              <a:rPr lang="en-US" sz="6500" u="sng">
                <a:solidFill>
                  <a:srgbClr val="417232"/>
                </a:solidFill>
                <a:latin typeface="Anton"/>
                <a:ea typeface="Anton"/>
                <a:cs typeface="Anton"/>
                <a:sym typeface="Anton"/>
              </a:rPr>
              <a:t>EXPERIMENT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1286" y="8740033"/>
            <a:ext cx="9063498" cy="578057"/>
          </a:xfrm>
          <a:custGeom>
            <a:avLst/>
            <a:gdLst/>
            <a:ahLst/>
            <a:cxnLst/>
            <a:rect r="r" b="b" t="t" l="l"/>
            <a:pathLst>
              <a:path h="578057" w="9063498">
                <a:moveTo>
                  <a:pt x="0" y="0"/>
                </a:moveTo>
                <a:lnTo>
                  <a:pt x="9063498" y="0"/>
                </a:lnTo>
                <a:lnTo>
                  <a:pt x="9063498" y="578057"/>
                </a:lnTo>
                <a:lnTo>
                  <a:pt x="0" y="57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325" y="3292467"/>
            <a:ext cx="8191304" cy="688345"/>
          </a:xfrm>
          <a:custGeom>
            <a:avLst/>
            <a:gdLst/>
            <a:ahLst/>
            <a:cxnLst/>
            <a:rect r="r" b="b" t="t" l="l"/>
            <a:pathLst>
              <a:path h="688345" w="8191304">
                <a:moveTo>
                  <a:pt x="0" y="0"/>
                </a:moveTo>
                <a:lnTo>
                  <a:pt x="8191304" y="0"/>
                </a:lnTo>
                <a:lnTo>
                  <a:pt x="8191304" y="688345"/>
                </a:lnTo>
                <a:lnTo>
                  <a:pt x="0" y="688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228" y="5952289"/>
            <a:ext cx="8933556" cy="495697"/>
          </a:xfrm>
          <a:custGeom>
            <a:avLst/>
            <a:gdLst/>
            <a:ahLst/>
            <a:cxnLst/>
            <a:rect r="r" b="b" t="t" l="l"/>
            <a:pathLst>
              <a:path h="495697" w="8933556">
                <a:moveTo>
                  <a:pt x="0" y="0"/>
                </a:moveTo>
                <a:lnTo>
                  <a:pt x="8933556" y="0"/>
                </a:lnTo>
                <a:lnTo>
                  <a:pt x="8933556" y="495696"/>
                </a:lnTo>
                <a:lnTo>
                  <a:pt x="0" y="495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84726" y="2807965"/>
            <a:ext cx="8311987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66C4"/>
                </a:solidFill>
                <a:latin typeface="Inter Bold"/>
                <a:ea typeface="Inter Bold"/>
                <a:cs typeface="Inter Bold"/>
                <a:sym typeface="Inter Bold"/>
              </a:rPr>
              <a:t>First Model (k=3)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Low accuracy shows that 3 clusters are not enough to show the dataset structure.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84726" y="5104762"/>
            <a:ext cx="831198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66C4"/>
                </a:solidFill>
                <a:latin typeface="Inter Bold"/>
                <a:ea typeface="Inter Bold"/>
                <a:cs typeface="Inter Bold"/>
                <a:sym typeface="Inter Bold"/>
              </a:rPr>
              <a:t>Best Model (k=10)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10 cluster are better fit for data, explaining more variance &amp; capturing more fine-grained patterns.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4726" y="7933687"/>
            <a:ext cx="8311987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66C4"/>
                </a:solidFill>
                <a:latin typeface="Inter Bold"/>
                <a:ea typeface="Inter Bold"/>
                <a:cs typeface="Inter Bold"/>
                <a:sym typeface="Inter Bold"/>
              </a:rPr>
              <a:t>Intermediate Model (k=6)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Slightly lower than the best model highlights that 6 clusters are still suboptimal for this dataset.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325" y="1939374"/>
            <a:ext cx="831198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*k -&gt; Number of clusters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978" y="2518450"/>
            <a:ext cx="9634238" cy="6280884"/>
          </a:xfrm>
          <a:custGeom>
            <a:avLst/>
            <a:gdLst/>
            <a:ahLst/>
            <a:cxnLst/>
            <a:rect r="r" b="b" t="t" l="l"/>
            <a:pathLst>
              <a:path h="6280884" w="9634238">
                <a:moveTo>
                  <a:pt x="0" y="0"/>
                </a:moveTo>
                <a:lnTo>
                  <a:pt x="9634238" y="0"/>
                </a:lnTo>
                <a:lnTo>
                  <a:pt x="9634238" y="6280885"/>
                </a:lnTo>
                <a:lnTo>
                  <a:pt x="0" y="628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978" y="99807"/>
            <a:ext cx="1129805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K-MEANS CLUSTERING - </a:t>
            </a:r>
            <a:r>
              <a:rPr lang="en-US" sz="6500" u="sng">
                <a:solidFill>
                  <a:srgbClr val="417232"/>
                </a:solidFill>
                <a:latin typeface="Anton"/>
                <a:ea typeface="Anton"/>
                <a:cs typeface="Anton"/>
                <a:sym typeface="Anton"/>
              </a:rPr>
              <a:t>EVALUATION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36319" y="8900477"/>
            <a:ext cx="3510505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E17EB"/>
                </a:solidFill>
                <a:latin typeface="Inter Bold"/>
                <a:ea typeface="Inter Bold"/>
                <a:cs typeface="Inter Bold"/>
                <a:sym typeface="Inter Bold"/>
              </a:rPr>
              <a:t>Elbow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56188" y="3164219"/>
            <a:ext cx="7464667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Relationship between no. of clusters (k) and inertia -&gt; measure cluster compactness.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Inertia drop in sharp decline from k=2 to k=4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At k=4 / k=5, slope of reduction rate drops more significantly, shows elbow point &amp; might be optimal no. of clusters in dataset.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46541" y="1707466"/>
            <a:ext cx="831198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*k -&gt; Number of clusters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975" y="185771"/>
            <a:ext cx="1158460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K-MEANS CLUSTERING - </a:t>
            </a:r>
            <a:r>
              <a:rPr lang="en-US" sz="6500" u="sng">
                <a:solidFill>
                  <a:srgbClr val="417232"/>
                </a:solidFill>
                <a:latin typeface="Anton"/>
                <a:ea typeface="Anton"/>
                <a:cs typeface="Anton"/>
                <a:sym typeface="Anton"/>
              </a:rPr>
              <a:t>EVALUATION 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87975" y="3042714"/>
            <a:ext cx="9674542" cy="6215586"/>
          </a:xfrm>
          <a:custGeom>
            <a:avLst/>
            <a:gdLst/>
            <a:ahLst/>
            <a:cxnLst/>
            <a:rect r="r" b="b" t="t" l="l"/>
            <a:pathLst>
              <a:path h="6215586" w="9674542">
                <a:moveTo>
                  <a:pt x="0" y="0"/>
                </a:moveTo>
                <a:lnTo>
                  <a:pt x="9674542" y="0"/>
                </a:lnTo>
                <a:lnTo>
                  <a:pt x="9674542" y="6215586"/>
                </a:lnTo>
                <a:lnTo>
                  <a:pt x="0" y="621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1692" y="9430053"/>
            <a:ext cx="8347292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E17EB"/>
                </a:solidFill>
                <a:latin typeface="Inter Bold"/>
                <a:ea typeface="Inter Bold"/>
                <a:cs typeface="Inter Bold"/>
                <a:sym typeface="Inter Bold"/>
              </a:rPr>
              <a:t>R-squared Accuracy for Different 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62517" y="2976039"/>
            <a:ext cx="8003158" cy="6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Performance of K-Means Clustering varies with no. of clusters (k).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Observed from plot that R-squared accuracy increases, reaching it max value at 0.5551 for k=10.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10 clusters are the best to describe most variance in data.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Various evaluation metrics must be considered in choosing optimal value of k as this result inconsistent with Elbow Method where optimal either at k=4 / k=5.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541" y="1707466"/>
            <a:ext cx="831198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*k -&gt; Number of clusters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826" y="2447856"/>
            <a:ext cx="9846447" cy="6551959"/>
          </a:xfrm>
          <a:custGeom>
            <a:avLst/>
            <a:gdLst/>
            <a:ahLst/>
            <a:cxnLst/>
            <a:rect r="r" b="b" t="t" l="l"/>
            <a:pathLst>
              <a:path h="6551959" w="9846447">
                <a:moveTo>
                  <a:pt x="0" y="0"/>
                </a:moveTo>
                <a:lnTo>
                  <a:pt x="9846447" y="0"/>
                </a:lnTo>
                <a:lnTo>
                  <a:pt x="9846447" y="6551959"/>
                </a:lnTo>
                <a:lnTo>
                  <a:pt x="0" y="655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826" y="214426"/>
            <a:ext cx="1167057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</a:pPr>
            <a:r>
              <a:rPr lang="en-US" sz="6500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K-MEANS CLUSTERING - </a:t>
            </a:r>
            <a:r>
              <a:rPr lang="en-US" sz="6500" u="sng">
                <a:solidFill>
                  <a:srgbClr val="417232"/>
                </a:solidFill>
                <a:latin typeface="Anton"/>
                <a:ea typeface="Anton"/>
                <a:cs typeface="Anton"/>
                <a:sym typeface="Anton"/>
              </a:rPr>
              <a:t>EVALUATION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82100"/>
            <a:ext cx="8347292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5E17EB"/>
                </a:solidFill>
                <a:latin typeface="Inter Bold"/>
                <a:ea typeface="Inter Bold"/>
                <a:cs typeface="Inter Bold"/>
                <a:sym typeface="Inter Bold"/>
              </a:rPr>
              <a:t>Cluster Visualization for Best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67273" y="2761560"/>
            <a:ext cx="8003158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Best model k=10 splits data into 10 distinct clusters represented using different colours.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Red ‘X’ markers outline centroids for every cluster, central point around data point collected.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Most clusters are separated.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High R-squared accuracy, 0.5551, realized by model &amp; supports fact that clusters captured important data patterns.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541" y="1707466"/>
            <a:ext cx="831198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*k -&gt; Number of clusters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1983" y="200292"/>
            <a:ext cx="14484035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GRADIENT BOOSTING -METHODOLOGY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96464"/>
            <a:ext cx="16582692" cy="809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Gradient Boosting algorithm is an ensemble learning technique that builds models sequentially to correct errors.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Objective: predict rental prices using Gradient Boosting algorithm</a:t>
            </a: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Handling Missing Values: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Numeric columns (e.g., completion_year, parking, bathroom) were imputed using the median to reduce the impact of outliers.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Categorical columns (e.g., prop_name, furnished, facilities) were filled with the mode to maintain logical consistency.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Non-numeric characters were removed from columns like monthly_rent, and values were converted to integers.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Text-based entries in columns like size, rooms, bathroom, and parking were processed to extract numeric values.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Engineering: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Categorical variables were converted into numerical format using one-hot encoding and label encoding.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scaling was applied to normalize the data, ensuring all features contribute proportionately to the model.</a:t>
            </a: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 Split: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80% training set, 20% testing set.</a:t>
            </a: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Initialization: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hyperparameters: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boosting rounds (n_estimators).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rate.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Maximum depth of trees (max_depth).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Minimum samples to split a node (min_samples_split).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Subsample ratio (subsample).</a:t>
            </a:r>
          </a:p>
          <a:p>
            <a:pPr algn="just">
              <a:lnSpc>
                <a:spcPts val="284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0166" y="5143500"/>
            <a:ext cx="6739134" cy="4424043"/>
          </a:xfrm>
          <a:custGeom>
            <a:avLst/>
            <a:gdLst/>
            <a:ahLst/>
            <a:cxnLst/>
            <a:rect r="r" b="b" t="t" l="l"/>
            <a:pathLst>
              <a:path h="4424043" w="6739134">
                <a:moveTo>
                  <a:pt x="0" y="0"/>
                </a:moveTo>
                <a:lnTo>
                  <a:pt x="6739134" y="0"/>
                </a:lnTo>
                <a:lnTo>
                  <a:pt x="6739134" y="4424043"/>
                </a:lnTo>
                <a:lnTo>
                  <a:pt x="0" y="4424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375568">
            <a:off x="7952102" y="5242551"/>
            <a:ext cx="1842319" cy="2358168"/>
          </a:xfrm>
          <a:custGeom>
            <a:avLst/>
            <a:gdLst/>
            <a:ahLst/>
            <a:cxnLst/>
            <a:rect r="r" b="b" t="t" l="l"/>
            <a:pathLst>
              <a:path h="2358168" w="1842319">
                <a:moveTo>
                  <a:pt x="0" y="0"/>
                </a:moveTo>
                <a:lnTo>
                  <a:pt x="1842319" y="0"/>
                </a:lnTo>
                <a:lnTo>
                  <a:pt x="1842319" y="2358168"/>
                </a:lnTo>
                <a:lnTo>
                  <a:pt x="0" y="2358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1983" y="200292"/>
            <a:ext cx="14484035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GRADIENT BOOSTING -METHODOLOGY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96464"/>
            <a:ext cx="16582692" cy="280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Process: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Sequential integration of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decision trees.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new tree corrects errors from the previous one.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teration continues until satisfactory performance or stopping criteria are met.</a:t>
            </a: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 Monitoring: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etrics: Mean Squared Error (MSE), Root Mean Squared Error (RMSE), R-squared.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ross-validation (k-fold) to prevent overfitting.</a:t>
            </a:r>
          </a:p>
          <a:p>
            <a:pPr algn="just">
              <a:lnSpc>
                <a:spcPts val="284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02137" y="6894130"/>
            <a:ext cx="9343271" cy="194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8"/>
              </a:lnSpc>
            </a:pPr>
            <a:r>
              <a:rPr lang="en-US" sz="5577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Example of Gradient Boosting algorithm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7534" y="2061170"/>
            <a:ext cx="7322909" cy="8225830"/>
            <a:chOff x="0" y="0"/>
            <a:chExt cx="1928667" cy="2166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8668" cy="2166474"/>
            </a:xfrm>
            <a:custGeom>
              <a:avLst/>
              <a:gdLst/>
              <a:ahLst/>
              <a:cxnLst/>
              <a:rect r="r" b="b" t="t" l="l"/>
              <a:pathLst>
                <a:path h="2166474" w="1928668">
                  <a:moveTo>
                    <a:pt x="0" y="0"/>
                  </a:moveTo>
                  <a:lnTo>
                    <a:pt x="1928668" y="0"/>
                  </a:lnTo>
                  <a:lnTo>
                    <a:pt x="1928668" y="2166474"/>
                  </a:lnTo>
                  <a:lnTo>
                    <a:pt x="0" y="21664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28667" cy="2214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00153" y="5040649"/>
            <a:ext cx="5958110" cy="4743847"/>
          </a:xfrm>
          <a:custGeom>
            <a:avLst/>
            <a:gdLst/>
            <a:ahLst/>
            <a:cxnLst/>
            <a:rect r="r" b="b" t="t" l="l"/>
            <a:pathLst>
              <a:path h="4743847" w="5958110">
                <a:moveTo>
                  <a:pt x="0" y="0"/>
                </a:moveTo>
                <a:lnTo>
                  <a:pt x="5958109" y="0"/>
                </a:lnTo>
                <a:lnTo>
                  <a:pt x="5958109" y="4743847"/>
                </a:lnTo>
                <a:lnTo>
                  <a:pt x="0" y="4743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40" t="-30699" r="-26748" b="-347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1983" y="200292"/>
            <a:ext cx="14484035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GRADIENT BOOSTING - EXPERIMENT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3111" y="1844039"/>
            <a:ext cx="10898879" cy="844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 Combination: 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rate: (0.01, 0.1, 0.2), 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n_estimators: [50, 100, 200],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max_depth: [3, 5, 7],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min_samples_split: [2, 5, 10],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subsample: [0.8, 1.0]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Configuration: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rate: 0.1 or 0.2.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estimators: 200.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Maximum depth: 7.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Minimum samples to split: 2.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Subsample ratio: 1.0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 Metrics: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R-squared: 0.72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explains 72% of the variance in rental prices, indicating a strong fit to the data.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high R-squared value suggests that the model captures the key factors influencing rental prices effectively.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RMSE (398.27):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low RMSE value indicates that the model's predictions are close to the actual rental prices on average.</a:t>
            </a:r>
          </a:p>
          <a:p>
            <a:pPr algn="just">
              <a:lnSpc>
                <a:spcPts val="28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391750" y="2718725"/>
            <a:ext cx="5239414" cy="180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8"/>
              </a:lnSpc>
            </a:pPr>
            <a:r>
              <a:rPr lang="en-US" b="true" sz="1965" spc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Residual Analysis: The residuals were symmetrically distributed around zero, showing that the model's predictions were unbiased, though some outliers were present.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5954" y="2196464"/>
            <a:ext cx="9661585" cy="809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Importance is t</a:t>
            </a: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identify which features have the most significant impact on the model's predictions.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Features: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Property Size (0.285732): The most influential feature, indicating that larger properties tend to have higher rental prices.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Bathrooms (0.063706): The second most important feature, suggesting that properties with more bathrooms are more desirable and command higher rents.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Completion Year (0.045): Newer properties tend to have higher rental prices, as they are often more modern and better maintained.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Parking Spaces (0.035): Properties with more parking spaces are more attractive to tenants, especially in urban areas.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Rooms (0.030): While still significant, the number of rooms has a smaller impact compared to property size and bathrooms.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Insights: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analysis reveals that physical characteristics of the property (e.g., size, number of bathrooms) are the most critical factors in determining rental prices.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Location-based factors (e.g., completion year, parking) also play a role but are less influential than property size and bathrooms.</a:t>
            </a:r>
          </a:p>
          <a:p>
            <a:pPr algn="just">
              <a:lnSpc>
                <a:spcPts val="284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685658"/>
            <a:ext cx="8195954" cy="8601342"/>
            <a:chOff x="0" y="0"/>
            <a:chExt cx="2158605" cy="22653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8605" cy="2265374"/>
            </a:xfrm>
            <a:custGeom>
              <a:avLst/>
              <a:gdLst/>
              <a:ahLst/>
              <a:cxnLst/>
              <a:rect r="r" b="b" t="t" l="l"/>
              <a:pathLst>
                <a:path h="2265374" w="2158605">
                  <a:moveTo>
                    <a:pt x="0" y="0"/>
                  </a:moveTo>
                  <a:lnTo>
                    <a:pt x="2158605" y="0"/>
                  </a:lnTo>
                  <a:lnTo>
                    <a:pt x="2158605" y="2265374"/>
                  </a:lnTo>
                  <a:lnTo>
                    <a:pt x="0" y="22653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58605" cy="2312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9554" y="3810753"/>
            <a:ext cx="7636846" cy="4351152"/>
          </a:xfrm>
          <a:custGeom>
            <a:avLst/>
            <a:gdLst/>
            <a:ahLst/>
            <a:cxnLst/>
            <a:rect r="r" b="b" t="t" l="l"/>
            <a:pathLst>
              <a:path h="4351152" w="7636846">
                <a:moveTo>
                  <a:pt x="0" y="0"/>
                </a:moveTo>
                <a:lnTo>
                  <a:pt x="7636846" y="0"/>
                </a:lnTo>
                <a:lnTo>
                  <a:pt x="7636846" y="4351152"/>
                </a:lnTo>
                <a:lnTo>
                  <a:pt x="0" y="4351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8" t="-28791" r="-1968" b="-11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1983" y="200292"/>
            <a:ext cx="14484035" cy="148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 u="sng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GRADIENT BOOSTING - ANALYSIS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422" y="199090"/>
            <a:ext cx="5998069" cy="148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DISCUSSION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2654" y="2303145"/>
            <a:ext cx="16582692" cy="703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Performance Metrics: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R-squared (0.72):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explains 72% of the variance in rental prices, indicating a strong fit to the data.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high R-squared value suggests that the model captures the key factors influencing rental prices effectively.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RMSE (398.27):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low RMSE value indicates that the model's predictions are close to the actual rental prices on average.</a:t>
            </a:r>
          </a:p>
          <a:p>
            <a:pPr algn="just" marL="1230628" indent="-307657" lvl="3">
              <a:lnSpc>
                <a:spcPts val="2849"/>
              </a:lnSpc>
              <a:buFont typeface="Arial"/>
              <a:buChar char="￭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metric confirms the model's accuracy and reliability for real-world applications.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Comparison with Other Models: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Gradient Boosting model outperformed other models like Neural Networks, K-Means Clustering, Random Forest in terms of both R-squared and RMSE.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Neural Networks: Performed poorly due to its inability to learn meaningful patterns (R-squared: 0.0029), likely due to insufficient data or hyperparameter tuning.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K-Means Clustering: Effective for grouping similar properties but less suitable for price prediction (best R-squared: 0.5551).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Forest: Achieved good accuracy (86.69%) for frequent rental categories but struggled with imbalanced data and less common rental types.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than Random Forest in handling class imbalance and predicting continuous rental prices.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Gradient Boosting model's ability to handle complex, non-linear relationships in the data made it the best-performing model for this dataset.</a:t>
            </a:r>
          </a:p>
          <a:p>
            <a:pPr algn="just">
              <a:lnSpc>
                <a:spcPts val="284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527864"/>
            <a:ext cx="5998069" cy="148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04"/>
              </a:lnSpc>
            </a:pPr>
            <a:r>
              <a:rPr lang="en-US" sz="8646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2654" y="2577464"/>
            <a:ext cx="16582692" cy="668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Performance: The Gradient Boosting model emerged as the most reliable predictor of rental prices in Kuala Lumpur/Selangor, achieving an R² of 0.72 and RMSE of 398.27.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Importance: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provides clear insights into which features drive rental prices, making it highly interpretable.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interpretability is valuable for stakeholders who need to understand the factors influencing rental prices.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Critical Price Factor: Property size, completion year, and number of bathrooms were identified as the most influential factors, aligning with real-world expectations.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Actionable Insights: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Landlords: Can use the model to optimize rental pricing strategies by focusing on key features like property size and number of bathrooms.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Tenants: Can identify affordable housing options by targeting properties with smaller sizes or fewer amenities.</a:t>
            </a:r>
          </a:p>
          <a:p>
            <a:pPr algn="just" marL="820419" indent="-273473" lvl="2">
              <a:lnSpc>
                <a:spcPts val="2849"/>
              </a:lnSpc>
              <a:buFont typeface="Arial"/>
              <a:buChar char="⚬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Policymakers: Can use the model's insights to develop policies that promote affordable housing in urban areas.</a:t>
            </a:r>
          </a:p>
          <a:p>
            <a:pPr algn="just">
              <a:lnSpc>
                <a:spcPts val="2849"/>
              </a:lnSpc>
            </a:pPr>
          </a:p>
          <a:p>
            <a:pPr algn="just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addressed its goals of identifying rental price determinants and delivering a predictive tool to bridge information gaps in the market.</a:t>
            </a:r>
          </a:p>
          <a:p>
            <a:pPr algn="just">
              <a:lnSpc>
                <a:spcPts val="2849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E6E8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4434" y="3743002"/>
            <a:ext cx="10159132" cy="251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01"/>
              </a:lnSpc>
            </a:pPr>
            <a:r>
              <a:rPr lang="en-US" sz="14644">
                <a:solidFill>
                  <a:srgbClr val="FF3D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DAGdOGqkkCQ</dc:identifier>
  <dcterms:modified xsi:type="dcterms:W3CDTF">2011-08-01T06:04:30Z</dcterms:modified>
  <cp:revision>1</cp:revision>
  <dc:title>Lab 1A G2_Presentation Slide</dc:title>
</cp:coreProperties>
</file>